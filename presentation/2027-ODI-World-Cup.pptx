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pilogue"/>
      <p:regular r:id="rId201314"/>
    </p:embeddedFont>
    <p:embeddedFont>
      <p:font typeface="Epilogue Medium"/>
      <p:regular r:id="rId201315"/>
    </p:embeddedFont>
    <p:embeddedFont>
      <p:font typeface="Epilogue SemiBold"/>
      <p:regular r:id="rId201316"/>
    </p:embeddedFont>
    <p:embeddedFont>
      <p:font typeface="Epilogue Black"/>
      <p:regular r:id="rId201317"/>
    </p:embeddedFont>
    <p:embeddedFont>
      <p:font typeface="Epilogue Bold"/>
      <p:regular r:id="rId201318"/>
    </p:embeddedFont>
    <p:embeddedFont>
      <p:font typeface="Fraunces"/>
      <p:regular r:id="rId201319"/>
    </p:embeddedFont>
    <p:embeddedFont>
      <p:font typeface="Fraunces Medium"/>
      <p:regular r:id="rId201320"/>
    </p:embeddedFont>
    <p:embeddedFont>
      <p:font typeface="Fraunces SemiBold"/>
      <p:regular r:id="rId201321"/>
    </p:embeddedFont>
    <p:embeddedFont>
      <p:font typeface="Fraunces Bold"/>
      <p:regular r:id="rId201322"/>
    </p:embeddedFont>
    <p:embeddedFont>
      <p:font typeface="Fraunces Black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jpeg"/><Relationship Id="rId8" Type="http://schemas.openxmlformats.org/officeDocument/2006/relationships/image" Target="../media/image-10-8.jpeg"/><Relationship Id="rId9" Type="http://schemas.openxmlformats.org/officeDocument/2006/relationships/image" Target="../media/image-10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2027 ODI World Cup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 &amp; Venue Intelligence — Data Analyst Portfolio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Prepared by Gokul • Tools: Python · Pandas · JSON · Power BI · DAX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2826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Executive Summary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363464"/>
            <a:ext cx="6296860" cy="1038820"/>
          </a:xfrm>
          <a:prstGeom prst="roundRect">
            <a:avLst>
              <a:gd name="adj" fmla="val 728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9788" y="1549896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19788" y="1934369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 &amp; venue intelligence for 2027 ODI World Cup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2573933"/>
            <a:ext cx="6296860" cy="1320304"/>
          </a:xfrm>
          <a:prstGeom prst="roundRect">
            <a:avLst>
              <a:gd name="adj" fmla="val 573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9788" y="2760365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Workflow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9788" y="3144838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Ball‑by‑ball JSON → team–venue measures → weighted scoring → Power BI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4065885"/>
            <a:ext cx="6296860" cy="1038820"/>
          </a:xfrm>
          <a:prstGeom prst="roundRect">
            <a:avLst>
              <a:gd name="adj" fmla="val 728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9788" y="4252317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Scope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419788" y="4636790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14 teams · 12 venues · 168 team–venue combos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3360" y="5276354"/>
            <a:ext cx="6296860" cy="1038820"/>
          </a:xfrm>
          <a:prstGeom prst="roundRect">
            <a:avLst>
              <a:gd name="adj" fmla="val 728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9788" y="5462786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Result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419788" y="5847259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Pakistan @ Queens Sports Club — Score 87.10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9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Snapshot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12641"/>
            <a:ext cx="4070744" cy="230673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726" y="2156718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08428" y="2156718"/>
            <a:ext cx="2341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teams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08428" y="2641005"/>
            <a:ext cx="2341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14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6166" y="2156718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94868" y="2156718"/>
            <a:ext cx="2341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venues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194868" y="2641005"/>
            <a:ext cx="2341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12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9726" y="3321447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08428" y="3321447"/>
            <a:ext cx="234150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Team–venue combos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08428" y="4101009"/>
            <a:ext cx="2341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168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6166" y="3321447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94868" y="3321447"/>
            <a:ext cx="2341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Historical coverage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194868" y="3805734"/>
            <a:ext cx="2341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78.57% historical · 21.43% fallback</a:t>
            </a:r>
            <a:endParaRPr lang="en-US" sz="14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99726" y="4788595"/>
            <a:ext cx="472468" cy="4724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08428" y="4788595"/>
            <a:ext cx="2341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Highest score</a:t>
            </a:r>
            <a:endParaRPr lang="en-US" sz="1850" dirty="0"/>
          </a:p>
        </p:txBody>
      </p:sp>
      <p:sp>
        <p:nvSpPr>
          <p:cNvPr id="18" name="Text 10"/>
          <p:cNvSpPr/>
          <p:nvPr/>
        </p:nvSpPr>
        <p:spPr>
          <a:xfrm>
            <a:off x="5908428" y="5272881"/>
            <a:ext cx="2341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87.10 — Pakistan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171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Objectives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59583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5723" y="166072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Primary Goals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069405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 favorable venues per team • Compare batting &amp; bowling by venue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05226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75723" y="311715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Scoring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525838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Consistent 0–100 suitability framework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0628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5723" y="427116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Coverage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467985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 fallback logic where historical data missing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36029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75723" y="542518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Delivery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75723" y="583386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Interactive Power BI dashboard for exploration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Source &amp; Scope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87377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Source: 2,565 men's ODI JSON files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346252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Filtered: men's ODIs from 2015‑01‑01 onward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Standardized 12 project venues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Parsed ball‑by‑ball for batting &amp; bowling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555728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Qualifying match records in master dataset: 153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13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Venues &amp; Teams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68054"/>
            <a:ext cx="720211" cy="900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7920" y="2368054"/>
            <a:ext cx="15273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Wanderers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89" y="2368054"/>
            <a:ext cx="720211" cy="9002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37934" y="2368054"/>
            <a:ext cx="15273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SuperSport Park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646289"/>
            <a:ext cx="720211" cy="9002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17920" y="3646289"/>
            <a:ext cx="15273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Newlands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2368054"/>
            <a:ext cx="720211" cy="9002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89221" y="2368054"/>
            <a:ext cx="15273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Mangaung Oval</a:t>
            </a:r>
            <a:endParaRPr lang="en-US" sz="1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790" y="2368054"/>
            <a:ext cx="720211" cy="90021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09235" y="2368054"/>
            <a:ext cx="15273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Queens Sports Club</a:t>
            </a:r>
            <a:endParaRPr lang="en-US" sz="1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776" y="3646289"/>
            <a:ext cx="720211" cy="90021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289221" y="3646289"/>
            <a:ext cx="15273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Harare Sports Club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661475" y="49717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Teams: Australia, Bangladesh, England, India, Ireland, New Zealand, Pakistan, Scotland, South Africa, Sri Lanka, West Indies, Zimbabwe, Namibia, Afghanistan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59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Prep &amp; Transformation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955" y="2185591"/>
            <a:ext cx="6854951" cy="31372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0783" y="4453919"/>
            <a:ext cx="1286938" cy="495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Master Merge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328889" y="4577878"/>
            <a:ext cx="1286938" cy="24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Extraction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715808" y="4577878"/>
            <a:ext cx="1286938" cy="24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Scope Filter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67470" y="4577878"/>
            <a:ext cx="1286938" cy="24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JSON Ingest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71333" y="1319113"/>
            <a:ext cx="3565138" cy="1127621"/>
          </a:xfrm>
          <a:prstGeom prst="roundRect">
            <a:avLst>
              <a:gd name="adj" fmla="val 5610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40992" y="1488777"/>
            <a:ext cx="322581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40992" y="1844080"/>
            <a:ext cx="322581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Read 2,565 JSON match files; extract metadata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71333" y="2566690"/>
            <a:ext cx="3565138" cy="1127621"/>
          </a:xfrm>
          <a:prstGeom prst="roundRect">
            <a:avLst>
              <a:gd name="adj" fmla="val 5610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0992" y="2736354"/>
            <a:ext cx="322581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40992" y="3091656"/>
            <a:ext cx="322581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Men's ODIs from 2015 onward; selected venues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71333" y="3814266"/>
            <a:ext cx="3565138" cy="1127621"/>
          </a:xfrm>
          <a:prstGeom prst="roundRect">
            <a:avLst>
              <a:gd name="adj" fmla="val 5610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40992" y="3983930"/>
            <a:ext cx="322581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Extraction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40992" y="4339233"/>
            <a:ext cx="322581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Batting: runs, strike rate, 4s, 6s, dismissals. Bowling: wickets, econ, avg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71333" y="5061843"/>
            <a:ext cx="3565138" cy="1127621"/>
          </a:xfrm>
          <a:prstGeom prst="roundRect">
            <a:avLst>
              <a:gd name="adj" fmla="val 5610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40992" y="5231507"/>
            <a:ext cx="322581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Merge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140992" y="5586809"/>
            <a:ext cx="322581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Team–venue batting, bowling, results → master layer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51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Scoring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816100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Batting Components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279452"/>
            <a:ext cx="35136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Runs/innings 40% · Strike rate 30% · Fours 15% · Sixes 15%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3444875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Bowling Components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3908227"/>
            <a:ext cx="35136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Wickets/match 40% · Economy 25% · Avg 20% · Strike rate 15%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5073650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Overall Score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1475" y="5537002"/>
            <a:ext cx="35136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50% batting + 50% bowling (percentile‑ranked components)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8141" y="1890613"/>
            <a:ext cx="6908330" cy="39147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6075" y="1582241"/>
            <a:ext cx="3564444" cy="508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1" name="Shape 8"/>
          <p:cNvSpPr/>
          <p:nvPr/>
        </p:nvSpPr>
        <p:spPr>
          <a:xfrm>
            <a:off x="636075" y="3211016"/>
            <a:ext cx="3564444" cy="508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2" name="Shape 9"/>
          <p:cNvSpPr/>
          <p:nvPr/>
        </p:nvSpPr>
        <p:spPr>
          <a:xfrm>
            <a:off x="636075" y="4839791"/>
            <a:ext cx="3564444" cy="50800"/>
          </a:xfrm>
          <a:prstGeom prst="rect">
            <a:avLst/>
          </a:prstGeom>
          <a:solidFill>
            <a:srgbClr val="8C98C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Fallback Logic &amp; Coverage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7725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168 team–venue combos created. Use: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892623"/>
            <a:ext cx="350421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Historical venue score when available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Team-level weighted venue fallback if missing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Neutral baseline when team has no historical score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500935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Coverage: 68 combos historical (40.5%) · 100 combos fallback (59.5%)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10060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643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Findings &amp; Dashboard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75991"/>
            <a:ext cx="420776" cy="42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9571" y="2375991"/>
            <a:ext cx="349290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recommendation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69571" y="2788940"/>
            <a:ext cx="349290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Pakistan — Queens Sports Club — 87.10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43374"/>
            <a:ext cx="420776" cy="4207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9571" y="3343374"/>
            <a:ext cx="349290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 top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269571" y="3756323"/>
            <a:ext cx="349290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South Africa — Buffalo Park — 85.63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10757"/>
            <a:ext cx="420776" cy="4207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9571" y="4310757"/>
            <a:ext cx="349290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Pages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269571" y="4723705"/>
            <a:ext cx="349290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Overview · Team Analysis · Venue Recommendation Intelligence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935" y="2402384"/>
            <a:ext cx="2024905" cy="2024955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5476" y="2402384"/>
            <a:ext cx="2025004" cy="202505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5117" y="2402384"/>
            <a:ext cx="2024905" cy="202495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79585" y="4722713"/>
            <a:ext cx="6356886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Limitations: recommendations are suitability scores, not guaranteed outcomes. Historical coverage uneven; rank‑based normalization is relative.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2026-09-08T10:42:55Z</dcterms:created>
  <dcterms:modified xsi:type="dcterms:W3CDTF">2026-09-08T10:42:55Z</dcterms:modified>
</cp:coreProperties>
</file>